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A"/>
            </a:gs>
            <a:gs pos="100000">
              <a:srgbClr val="2F6FED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828800" cy="777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4284B"/>
                </a:solidFill>
                <a:latin typeface="Georgia"/>
              </a:rPr>
              <a:t>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CFDEF7"/>
                </a:solidFill>
                <a:latin typeface="Calibri"/>
              </a:rPr>
              <a:t>AEROSPACE  ·  MULTI-AGENT AI  ·  DATA SOVEREIGNTY  · 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Georgia"/>
              </a:rPr>
              <a:t>Actu'AI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4ECFB"/>
                </a:solidFill>
                <a:latin typeface="Calibri"/>
              </a:rPr>
              <a:t>Final delivery — a multi-agent AI system that automates the non-value-added administrative work of an A350 thrust-reverser actuation supply chain, validated end-to-end on its own Docker Compose stack, while keeping all sensitive aerospace data on local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694944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30368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100">
                <a:solidFill>
                  <a:srgbClr val="2F6FED"/>
                </a:solidFill>
                <a:latin typeface="Calibri"/>
              </a:rPr>
              <a:t>TEAM   </a:t>
            </a:r>
            <a:r>
              <a:rPr sz="1150" b="0" i="0">
                <a:solidFill>
                  <a:srgbClr val="14284B"/>
                </a:solidFill>
                <a:latin typeface="Calibri"/>
              </a:rPr>
              <a:t>Jarfino HOUNGBADJI  ·  SOW Achta Demba  ·  Fatoumata IBRAHIM BELKO</a:t>
            </a:r>
          </a:p>
          <a:p>
            <a:pPr>
              <a:spcBef>
                <a:spcPts val="800"/>
              </a:spcBef>
            </a:pPr>
            <a:r>
              <a:rPr sz="1050" b="1" i="0" spc="100">
                <a:solidFill>
                  <a:srgbClr val="E87B1E"/>
                </a:solidFill>
                <a:latin typeface="Calibri"/>
              </a:rPr>
              <a:t>SUPERVISOR   </a:t>
            </a:r>
            <a:r>
              <a:rPr sz="1150" b="0" i="0">
                <a:solidFill>
                  <a:srgbClr val="14284B"/>
                </a:solidFill>
                <a:latin typeface="Calibri"/>
              </a:rPr>
              <a:t>GUETARI Skander          </a:t>
            </a:r>
            <a:r>
              <a:rPr sz="1050" b="1" i="0" spc="100">
                <a:solidFill>
                  <a:srgbClr val="1A7A3E"/>
                </a:solidFill>
                <a:latin typeface="Calibri"/>
              </a:rPr>
              <a:t>STATUS   </a:t>
            </a:r>
            <a:r>
              <a:rPr sz="1150" b="1" i="0">
                <a:solidFill>
                  <a:srgbClr val="14284B"/>
                </a:solidFill>
                <a:latin typeface="Calibri"/>
              </a:rPr>
              <a:t>Completed &amp; integration-tested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35508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FDEF7"/>
                </a:solidFill>
                <a:latin typeface="Calibri"/>
              </a:rPr>
              <a:t>Source code  github.com/jaja07/ActuAI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Final delivery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897880" cy="4937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84B"/>
                </a:solidFill>
                <a:latin typeface="Calibri"/>
              </a:rPr>
              <a:t>What was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5349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4B5566"/>
                </a:solidFill>
                <a:latin typeface="Calibri"/>
              </a:rPr>
              <a:t>Actu'AI now runs as a complete multi-agent system that ingests supplier emails and audit requests, drafts the required SAP updates, alerts and documents automatically, and surfaces every action to a human expert for validation. 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250" b="0" i="0">
                <a:solidFill>
                  <a:srgbClr val="4B5566"/>
                </a:solidFill>
                <a:latin typeface="Calibri"/>
              </a:rPr>
              <a:t>All five operational missions are implemented, wired end-to-end, and were exercised against a live Docker Compose stack — real PostgreSQL, real Qdrant, a simulated SAP ERP, and the React validation dashboard — not just unit tests.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7A3E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37760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B5566"/>
                </a:solidFill>
                <a:latin typeface="Calibri"/>
              </a:rPr>
              <a:t>Eliminates NVA
tasks</a:t>
            </a:r>
          </a:p>
        </p:txBody>
      </p:sp>
      <p:sp>
        <p:nvSpPr>
          <p:cNvPr id="11" name="Oval 10"/>
          <p:cNvSpPr/>
          <p:nvPr/>
        </p:nvSpPr>
        <p:spPr>
          <a:xfrm>
            <a:off x="2148840" y="4343400"/>
            <a:ext cx="502920" cy="50292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4343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87B1E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4937760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B5566"/>
                </a:solidFill>
                <a:latin typeface="Calibri"/>
              </a:rPr>
              <a:t>Local data
sovereignty</a:t>
            </a:r>
          </a:p>
        </p:txBody>
      </p:sp>
      <p:sp>
        <p:nvSpPr>
          <p:cNvPr id="14" name="Oval 13"/>
          <p:cNvSpPr/>
          <p:nvPr/>
        </p:nvSpPr>
        <p:spPr>
          <a:xfrm>
            <a:off x="3520440" y="4343400"/>
            <a:ext cx="502920" cy="50292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4343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F6FED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937760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B5566"/>
                </a:solidFill>
                <a:latin typeface="Calibri"/>
              </a:rPr>
              <a:t>Human-in-the-
loop</a:t>
            </a:r>
          </a:p>
        </p:txBody>
      </p:sp>
      <p:sp>
        <p:nvSpPr>
          <p:cNvPr id="17" name="Oval 16"/>
          <p:cNvSpPr/>
          <p:nvPr/>
        </p:nvSpPr>
        <p:spPr>
          <a:xfrm>
            <a:off x="4892040" y="4343400"/>
            <a:ext cx="502920" cy="502920"/>
          </a:xfrm>
          <a:prstGeom prst="ellipse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343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7C5CD4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937760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4B5566"/>
                </a:solidFill>
                <a:latin typeface="Calibri"/>
              </a:rPr>
              <a:t>Validated end-
to-end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234440"/>
            <a:ext cx="5074920" cy="11155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0" y="1508760"/>
            <a:ext cx="566928" cy="566928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344168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F6FED"/>
                </a:solidFill>
                <a:latin typeface="Georgia"/>
              </a:rPr>
              <a:t>30–60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399032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B5566"/>
                </a:solidFill>
                <a:latin typeface="Calibri"/>
              </a:rPr>
              <a:t>supplier emails handled per employee, per 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2423160"/>
            <a:ext cx="5074920" cy="11155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0" y="2697480"/>
            <a:ext cx="566928" cy="566928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2532888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87B1E"/>
                </a:solidFill>
                <a:latin typeface="Georgia"/>
              </a:rPr>
              <a:t>3 h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587752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B5566"/>
                </a:solidFill>
                <a:latin typeface="Calibri"/>
              </a:rPr>
              <a:t>NVA delay on a single delay alert — now near-instant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3611880"/>
            <a:ext cx="5074920" cy="11155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0" y="3886200"/>
            <a:ext cx="566928" cy="566928"/>
          </a:xfrm>
          <a:prstGeom prst="ellipse">
            <a:avLst/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3721608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7A3E"/>
                </a:solidFill>
                <a:latin typeface="Georgia"/>
              </a:rPr>
              <a:t>5 /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776472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B5566"/>
                </a:solidFill>
                <a:latin typeface="Calibri"/>
              </a:rPr>
              <a:t>core actuation missions implemented and validated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4800600"/>
            <a:ext cx="5074920" cy="11155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0" y="5074920"/>
            <a:ext cx="566928" cy="566928"/>
          </a:xfrm>
          <a:prstGeom prst="ellipse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910328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7C5CD4"/>
                </a:solidFill>
                <a:latin typeface="Georgia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965192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B5566"/>
                </a:solidFill>
                <a:latin typeface="Calibri"/>
              </a:rPr>
              <a:t>regressions across 11 automated backend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THE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Aerospace actuation &amp; the A350 elecTRAS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690372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84B"/>
                </a:solidFill>
                <a:latin typeface="Calibri"/>
              </a:rPr>
              <a:t>From control signal to physical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63550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4B5566"/>
                </a:solidFill>
                <a:latin typeface="Calibri"/>
              </a:rPr>
              <a:t>If the onboard computer is a machine's brain, the actuation system is its muscles — converting a control signal into mechanical action.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4B5566"/>
                </a:solidFill>
                <a:latin typeface="Calibri"/>
              </a:rPr>
              <a:t>This project targets the elecTRAS, the Thrust Reverser Actuation System of the A350, which deploys the engine cowlings on landing to decelerate the aircraft.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690372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1363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84B"/>
                </a:solidFill>
                <a:latin typeface="Calibri"/>
              </a:rPr>
              <a:t>Precision components managed by the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63550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130" b="1" i="0">
                <a:solidFill>
                  <a:srgbClr val="14284B"/>
                </a:solidFill>
                <a:latin typeface="Calibri"/>
              </a:rPr>
              <a:t>Electromechanical actuators —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convert electrical commands into the force that moves the cowlings.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130" b="1" i="0">
                <a:solidFill>
                  <a:srgbClr val="14284B"/>
                </a:solidFill>
                <a:latin typeface="Calibri"/>
              </a:rPr>
              <a:t>Gearmotors —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geared drive units delivering controlled torque for deployment.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130" b="1" i="0">
                <a:solidFill>
                  <a:srgbClr val="14284B"/>
                </a:solidFill>
                <a:latin typeface="Calibri"/>
              </a:rPr>
              <a:t>Embedded electronic boards —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on-board control electronics for actuation logic and feedback.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130" b="1" i="0">
                <a:solidFill>
                  <a:srgbClr val="14284B"/>
                </a:solidFill>
                <a:latin typeface="Calibri"/>
              </a:rPr>
              <a:t>Precision mechanical parts —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high-tolerance machined parts integrated into the nacelle.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34440"/>
            <a:ext cx="4069080" cy="4937760"/>
          </a:xfrm>
          <a:prstGeom prst="roundRect">
            <a:avLst>
              <a:gd name="adj" fmla="val 4500"/>
            </a:avLst>
          </a:prstGeom>
          <a:solidFill>
            <a:srgbClr val="14284B"/>
          </a:solidFill>
          <a:ln w="9525">
            <a:solidFill>
              <a:srgbClr val="14284B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Why it is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965960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CFDEF7"/>
                </a:solidFill>
                <a:latin typeface="Calibri"/>
              </a:rPr>
              <a:t>Handling these parts must strictly follow rigorous aerospace quality and safety regulations. Every operation is governed by: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15468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1F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2278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 9100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5021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FDEF7"/>
                </a:solidFill>
                <a:latin typeface="Calibri"/>
              </a:rPr>
              <a:t>European quality management standard for aviation, space and defence.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11480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1F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1879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AS 9100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46227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FDEF7"/>
                </a:solidFill>
                <a:latin typeface="Calibri"/>
              </a:rPr>
              <a:t>Equivalent aerospace standard governing manufacturing and traceability.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257800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CFDEF7"/>
                </a:solidFill>
                <a:latin typeface="Calibri"/>
              </a:rPr>
              <a:t>Components feed directly into the Airbus production schedule — any slip cascades downstream into an AOG event.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The ERP–communication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024128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463040"/>
            <a:ext cx="502920" cy="50292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2F6FED"/>
                </a:solidFill>
                <a:latin typeface="Calibri"/>
              </a:rPr>
              <a:t>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630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284B"/>
                </a:solidFill>
                <a:latin typeface="Calibri"/>
              </a:rPr>
              <a:t>Rigid structured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B5566"/>
                </a:solidFill>
                <a:latin typeface="Calibri"/>
              </a:rPr>
              <a:t>SAP ERP: forecast dates, part references, PO numbers, serial numbers — the system of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87B1E"/>
                </a:solidFill>
                <a:latin typeface="Calibri"/>
              </a:rPr>
              <a:t>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7373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7B1E"/>
                </a:solidFill>
                <a:latin typeface="Calibri"/>
              </a:rPr>
              <a:t>⇄  BRIDGE = NVA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4B5566"/>
                </a:solidFill>
                <a:latin typeface="Calibri"/>
              </a:rPr>
              <a:t>→ now automated by
the Transactional &amp;
Investigative agents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0" y="1463040"/>
            <a:ext cx="502920" cy="50292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4630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E87B1E"/>
                </a:solidFill>
                <a:latin typeface="Calibri"/>
              </a:rPr>
              <a:t>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4630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284B"/>
                </a:solidFill>
                <a:latin typeface="Calibri"/>
              </a:rPr>
              <a:t>Unstructured 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B5566"/>
                </a:solidFill>
                <a:latin typeface="Calibri"/>
              </a:rPr>
              <a:t>Daily emails, PDF documents, Excel files, scanned paper — the real flow of 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84B"/>
                </a:solidFill>
                <a:latin typeface="Calibri"/>
              </a:rPr>
              <a:t>Concrete example — a single 8-day delay alert on a critical A350 component (before automation)</a:t>
            </a:r>
          </a:p>
        </p:txBody>
      </p:sp>
      <p:sp>
        <p:nvSpPr>
          <p:cNvPr id="18" name="Oval 17"/>
          <p:cNvSpPr/>
          <p:nvPr/>
        </p:nvSpPr>
        <p:spPr>
          <a:xfrm>
            <a:off x="1216152" y="3703320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97680"/>
            <a:ext cx="1975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F6FED"/>
                </a:solidFill>
                <a:latin typeface="Georgia"/>
              </a:rPr>
              <a:t>07:50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17720"/>
            <a:ext cx="17922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Supplier emails to report
an 8-day delay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40280" y="3950208"/>
            <a:ext cx="950976" cy="0"/>
          </a:xfrm>
          <a:prstGeom prst="line">
            <a:avLst/>
          </a:prstGeom>
          <a:ln w="1905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191256" y="3703320"/>
            <a:ext cx="502920" cy="502920"/>
          </a:xfrm>
          <a:prstGeom prst="ellipse">
            <a:avLst/>
          </a:prstGeom>
          <a:solidFill>
            <a:srgbClr val="E8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8024" y="4297680"/>
            <a:ext cx="1975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87B1E"/>
                </a:solidFill>
                <a:latin typeface="Georgia"/>
              </a:rPr>
              <a:t>09:20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9464" y="4617720"/>
            <a:ext cx="17922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Employee reads
the email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15384" y="3950208"/>
            <a:ext cx="950976" cy="0"/>
          </a:xfrm>
          <a:prstGeom prst="line">
            <a:avLst/>
          </a:prstGeom>
          <a:ln w="1905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166360" y="3703320"/>
            <a:ext cx="502920" cy="502920"/>
          </a:xfrm>
          <a:prstGeom prst="ellipse">
            <a:avLst/>
          </a:prstGeom>
          <a:solidFill>
            <a:srgbClr val="E8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4297680"/>
            <a:ext cx="1975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87B1E"/>
                </a:solidFill>
                <a:latin typeface="Georgia"/>
              </a:rPr>
              <a:t>09:40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617720"/>
            <a:ext cx="17922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Data is manually entered
into SAP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90488" y="3950208"/>
            <a:ext cx="950976" cy="0"/>
          </a:xfrm>
          <a:prstGeom prst="line">
            <a:avLst/>
          </a:prstGeom>
          <a:ln w="1905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141464" y="3703320"/>
            <a:ext cx="502920" cy="502920"/>
          </a:xfrm>
          <a:prstGeom prst="ellipse">
            <a:avLst/>
          </a:prstGeom>
          <a:solidFill>
            <a:srgbClr val="E8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297680"/>
            <a:ext cx="1975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87B1E"/>
                </a:solidFill>
                <a:latin typeface="Georgia"/>
              </a:rPr>
              <a:t>10:00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4617720"/>
            <a:ext cx="17922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Planning manager
is alerted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65592" y="3950208"/>
            <a:ext cx="950976" cy="0"/>
          </a:xfrm>
          <a:prstGeom prst="line">
            <a:avLst/>
          </a:prstGeom>
          <a:ln w="1905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116568" y="3703320"/>
            <a:ext cx="502920" cy="502920"/>
          </a:xfrm>
          <a:prstGeom prst="ellipse">
            <a:avLst/>
          </a:prstGeom>
          <a:solidFill>
            <a:srgbClr val="1A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4297680"/>
            <a:ext cx="19751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7A3E"/>
                </a:solidFill>
                <a:latin typeface="Georgia"/>
              </a:rPr>
              <a:t>11:00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4776" y="4617720"/>
            <a:ext cx="17922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Airbus line learns of it
in a meeting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440680"/>
            <a:ext cx="10241280" cy="685800"/>
          </a:xfrm>
          <a:prstGeom prst="roundRect">
            <a:avLst>
              <a:gd name="adj" fmla="val 10000"/>
            </a:avLst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440680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Result (then): a 3 h 10 processing delay that was entirely non-value-added. Result (now): drafted, validated and acted on in minutes — see Mission 1, next.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BUSINESS PROCESS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Five missions — now fully automated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B5566"/>
                </a:solidFill>
                <a:latin typeface="Calibri"/>
              </a:rPr>
              <a:t>The Actuation service runs five core missions every day. Each one used to generate a stream of non-value-added work; each is now handled end-to-end by Actu'AI's agents.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93392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2057400"/>
            <a:ext cx="457200" cy="45720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F6FED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51760"/>
            <a:ext cx="1673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84B"/>
                </a:solidFill>
                <a:latin typeface="Calibri"/>
              </a:rPr>
              <a:t>Supply Chain
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337560"/>
            <a:ext cx="1673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Track deliveries against contractual 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4297680"/>
            <a:ext cx="822960" cy="320040"/>
          </a:xfrm>
          <a:prstGeom prst="roundRect">
            <a:avLst>
              <a:gd name="adj" fmla="val 3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429768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F6FED"/>
                </a:solidFill>
                <a:latin typeface="Calibri"/>
              </a:rPr>
              <a:t>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754880"/>
            <a:ext cx="1673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A7A3E"/>
                </a:solidFill>
                <a:latin typeface="Calibri"/>
              </a:rPr>
              <a:t>✓ Delivered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51176" y="1828800"/>
            <a:ext cx="1993392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15768" y="2057400"/>
            <a:ext cx="457200" cy="45720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E87B1E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2651760"/>
            <a:ext cx="1673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84B"/>
                </a:solidFill>
                <a:latin typeface="Calibri"/>
              </a:rPr>
              <a:t>Production Schedule
Coordination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3337560"/>
            <a:ext cx="1673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Synchronise deliveries with the Airbus build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15768" y="4297680"/>
            <a:ext cx="822960" cy="320040"/>
          </a:xfrm>
          <a:prstGeom prst="roundRect">
            <a:avLst>
              <a:gd name="adj" fmla="val 30000"/>
            </a:avLst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429768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87B1E"/>
                </a:solidFill>
                <a:latin typeface="Calibri"/>
              </a:rPr>
              <a:t>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754880"/>
            <a:ext cx="1673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A7A3E"/>
                </a:solidFill>
                <a:latin typeface="Calibri"/>
              </a:rPr>
              <a:t>✓ Delivered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9432" y="1828800"/>
            <a:ext cx="1993392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64024" y="2057400"/>
            <a:ext cx="457200" cy="457200"/>
          </a:xfrm>
          <a:prstGeom prst="ellipse">
            <a:avLst/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4024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7A3E"/>
                </a:solidFill>
                <a:latin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2651760"/>
            <a:ext cx="1673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84B"/>
                </a:solidFill>
                <a:latin typeface="Calibri"/>
              </a:rPr>
              <a:t>Quality &amp;
Non-Conformity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4" y="3337560"/>
            <a:ext cx="1673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Document defects under EN9100/AS9100.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64024" y="4297680"/>
            <a:ext cx="822960" cy="320040"/>
          </a:xfrm>
          <a:prstGeom prst="roundRect">
            <a:avLst>
              <a:gd name="adj" fmla="val 30000"/>
            </a:avLst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4024" y="429768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7A3E"/>
                </a:solidFill>
                <a:latin typeface="Calibri"/>
              </a:rPr>
              <a:t>M3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024" y="4754880"/>
            <a:ext cx="1673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A7A3E"/>
                </a:solidFill>
                <a:latin typeface="Calibri"/>
              </a:rPr>
              <a:t>✓ Delivered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7688" y="1828800"/>
            <a:ext cx="1993392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12280" y="2057400"/>
            <a:ext cx="457200" cy="457200"/>
          </a:xfrm>
          <a:prstGeom prst="ellipse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7C5CD4"/>
                </a:solidFill>
                <a:latin typeface="Georg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651760"/>
            <a:ext cx="1673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84B"/>
                </a:solidFill>
                <a:latin typeface="Calibri"/>
              </a:rPr>
              <a:t>Technical Documentation
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337560"/>
            <a:ext cx="1673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Manage regulatory records &amp; certificates.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12280" y="4297680"/>
            <a:ext cx="822960" cy="320040"/>
          </a:xfrm>
          <a:prstGeom prst="roundRect">
            <a:avLst>
              <a:gd name="adj" fmla="val 30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29768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7C5CD4"/>
                </a:solidFill>
                <a:latin typeface="Calibri"/>
              </a:rPr>
              <a:t>M4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754880"/>
            <a:ext cx="1673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A7A3E"/>
                </a:solidFill>
                <a:latin typeface="Calibri"/>
              </a:rPr>
              <a:t>✓ Delivered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95944" y="1828800"/>
            <a:ext cx="1993392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60536" y="2057400"/>
            <a:ext cx="457200" cy="457200"/>
          </a:xfrm>
          <a:prstGeom prst="ellipse">
            <a:avLst/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0536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8A7C"/>
                </a:solidFill>
                <a:latin typeface="Georgia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0536" y="2651760"/>
            <a:ext cx="1673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84B"/>
                </a:solidFill>
                <a:latin typeface="Calibri"/>
              </a:rPr>
              <a:t>End-to-End
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0536" y="3337560"/>
            <a:ext cx="1673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Reconstruct a part's full history, order to nacelle.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60536" y="4297680"/>
            <a:ext cx="822960" cy="320040"/>
          </a:xfrm>
          <a:prstGeom prst="roundRect">
            <a:avLst>
              <a:gd name="adj" fmla="val 30000"/>
            </a:avLst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0536" y="429768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68A7C"/>
                </a:solidFill>
                <a:latin typeface="Calibri"/>
              </a:rPr>
              <a:t>M5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0536" y="4754880"/>
            <a:ext cx="1673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A7A3E"/>
                </a:solidFill>
                <a:latin typeface="Calibri"/>
              </a:rPr>
              <a:t>✓ Delivered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303520"/>
            <a:ext cx="10241280" cy="86868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303520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Every manual step that used to bridge SAP and the daily document flow is now an automated draft, paused for one human validation click — across all five missions.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MISSION 1 ·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84B"/>
                </a:solidFill>
                <a:latin typeface="Georgia"/>
              </a:rPr>
              <a:t>Supply Chain Monitoring — automatic SAP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0241280" cy="4983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481328"/>
            <a:ext cx="9052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84B"/>
                </a:solidFill>
                <a:latin typeface="Calibri"/>
              </a:rPr>
              <a:t>Transactional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80">
                <a:solidFill>
                  <a:srgbClr val="2F6FED"/>
                </a:solidFill>
                <a:latin typeface="Calibri"/>
              </a:rPr>
              <a:t>Delivered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96926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Reads each incoming supplier email and classifies it without manual sorting of the daily 30–60 message flood.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Extracts the delivery date and status, and drafts a structured SAP update payload — eliminating manual double data entry.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Pauses for explicit human validation before anything is written to SAP.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92040"/>
            <a:ext cx="9692640" cy="11887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834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F6FED"/>
                </a:solidFill>
                <a:latin typeface="Calibri"/>
              </a:rPr>
              <a:t>Validated in integration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230368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A simulated delay email for a real PO was ingested through the live API; the agent drafted a SAP_UPDATE task, and on approval the mock SAP's expected_delivery_date was confirmed updated.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MISSIONS 2 &amp; 3 ·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84B"/>
                </a:solidFill>
                <a:latin typeface="Georgia"/>
              </a:rPr>
              <a:t>Production Scheduling &amp; Quality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074920" cy="4983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48132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84B"/>
                </a:solidFill>
                <a:latin typeface="Calibri"/>
              </a:rPr>
              <a:t>M2 · AOG Risk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80">
                <a:solidFill>
                  <a:srgbClr val="E87B1E"/>
                </a:solidFill>
                <a:latin typeface="Calibri"/>
              </a:rPr>
              <a:t>Delivered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45262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E87B1E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Cross-references every delivery update against the Airbus production schedule for the same part reference.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E87B1E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Flags a delay against the assembly drop-dead date automatically, generating a Red AOG alert — no more D-Day surprises.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E87B1E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On approval, triggers an escalation email to the supplier/transporter requesting expedited shipping.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92040"/>
            <a:ext cx="4526280" cy="1188720"/>
          </a:xfrm>
          <a:prstGeom prst="roundRect">
            <a:avLst>
              <a:gd name="adj" fmla="val 10000"/>
            </a:avLst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8348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7B1E"/>
                </a:solidFill>
                <a:latin typeface="Calibri"/>
              </a:rPr>
              <a:t>Validated in integration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230368"/>
            <a:ext cx="4160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The same delay event was cross-checked against a real production schedule row; the AOG_ALERT task was created in parallel, and on approval a real escalation email landed in the outbox with the correct drop-dead delta.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234440"/>
            <a:ext cx="5074920" cy="4983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1463040"/>
            <a:ext cx="502920" cy="502920"/>
          </a:xfrm>
          <a:prstGeom prst="ellipse">
            <a:avLst/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48132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84B"/>
                </a:solidFill>
                <a:latin typeface="Calibri"/>
              </a:rPr>
              <a:t>M3 · Quality &amp; FNC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80">
                <a:solidFill>
                  <a:srgbClr val="1A7A3E"/>
                </a:solidFill>
                <a:latin typeface="Calibri"/>
              </a:rPr>
              <a:t>Delivered 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23160"/>
            <a:ext cx="45262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1A7A3E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Detects a non-conformity request and pre-fills the Non-Conformance Report (part reference, supplier, PO, reception date) straight from SAP data.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1A7A3E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Eliminates manual re-typing across quality registers and supplier reports.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1A7A3E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On approval, posts the FNC directly to the SAP quality-notification endpoint.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892040"/>
            <a:ext cx="4526280" cy="1188720"/>
          </a:xfrm>
          <a:prstGeom prst="roundRect">
            <a:avLst>
              <a:gd name="adj" fmla="val 10000"/>
            </a:avLst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98348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7A3E"/>
                </a:solidFill>
                <a:latin typeface="Calibri"/>
              </a:rPr>
              <a:t>Validated in integration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230368"/>
            <a:ext cx="4160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"Créer FNC pour rayure..." on a real PO produced a pre-filled FNC draft; approving it created a real Quality Notification record in the mock SAP, confirmed via the BAPI.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MISSIONS 4 &amp; 5 ·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84B"/>
                </a:solidFill>
                <a:latin typeface="Georgia"/>
              </a:rPr>
              <a:t>Documentation Search &amp; End-to-End Traceability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074920" cy="4983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48132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84B"/>
                </a:solidFill>
                <a:latin typeface="Calibri"/>
              </a:rPr>
              <a:t>M4 · Investigative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80">
                <a:solidFill>
                  <a:srgbClr val="7C5CD4"/>
                </a:solidFill>
                <a:latin typeface="Calibri"/>
              </a:rPr>
              <a:t>Delivered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45262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7C5CD4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Embeds incoming questions and runs semantic search against the Qdrant vector store built from indexed technical PDFs.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7C5CD4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Returns a grounded answer plus the real source document(s) — erasing the 20–30 minutes once lost per document search.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7C5CD4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A human reviews and signs off the synthesis for the LangSmith/audit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92040"/>
            <a:ext cx="4526280" cy="1188720"/>
          </a:xfrm>
          <a:prstGeom prst="roundRect">
            <a:avLst>
              <a:gd name="adj" fmla="val 10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8348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5CD4"/>
                </a:solidFill>
                <a:latin typeface="Calibri"/>
              </a:rPr>
              <a:t>Validated in integration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230368"/>
            <a:ext cx="4160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After indexing the generated PDFs into Qdrant, a real query against a known PO returned an actual retrieved chunk and source filename — not a 'no match' placeholder.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234440"/>
            <a:ext cx="5074920" cy="4983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1463040"/>
            <a:ext cx="502920" cy="502920"/>
          </a:xfrm>
          <a:prstGeom prst="ellipse">
            <a:avLst/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48132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84B"/>
                </a:solidFill>
                <a:latin typeface="Calibri"/>
              </a:rPr>
              <a:t>M5 · Hybrid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80">
                <a:solidFill>
                  <a:srgbClr val="168A7C"/>
                </a:solidFill>
                <a:latin typeface="Calibri"/>
              </a:rPr>
              <a:t>Delivered 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23160"/>
            <a:ext cx="45262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168A7C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Routes traceability/audit requests to a HYBRID cycle: Transactional agent rebuilds the SQL trail, Investigative agent searches every related document.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168A7C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Merges both into one Traceability Dossier — PO, supplier, reception date, FNCs, narrative and document sources — as a single HITL task.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30" b="1" i="0">
                <a:solidFill>
                  <a:srgbClr val="168A7C"/>
                </a:solidFill>
                <a:latin typeface="Calibri"/>
              </a:rPr>
              <a:t>•  </a:t>
            </a:r>
            <a:r>
              <a:rPr sz="1130" b="0" i="0">
                <a:solidFill>
                  <a:srgbClr val="4B5566"/>
                </a:solidFill>
                <a:latin typeface="Calibri"/>
              </a:rPr>
              <a:t>On approval, the dossier is archived as the audit record.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892040"/>
            <a:ext cx="4526280" cy="1188720"/>
          </a:xfrm>
          <a:prstGeom prst="roundRect">
            <a:avLst>
              <a:gd name="adj" fmla="val 10000"/>
            </a:avLst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98348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68A7C"/>
                </a:solidFill>
                <a:latin typeface="Calibri"/>
              </a:rPr>
              <a:t>Validated in integration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230368"/>
            <a:ext cx="4160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Querying a real serial number's full history correctly routed to the hybrid agent, returning the structured PO trail merged with Qdrant search results in one dossier, then archived on approval.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F6FED"/>
            </a:gs>
            <a:gs pos="100000">
              <a:srgbClr val="0B1B3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CFDEF7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A multi-agent AI system, delivered for the factory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4ECFB"/>
                </a:solidFill>
                <a:latin typeface="Calibri"/>
              </a:rPr>
              <a:t>Actu'AI bridges the structured/unstructured gap with specialised AI agents — all five missions automated, data kept under local control, a human always in command.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6040"/>
            <a:ext cx="2542032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2084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4284B"/>
                </a:solidFill>
                <a:latin typeface="Calibri"/>
              </a:rPr>
              <a:t>Specialised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B5566"/>
                </a:solidFill>
                <a:latin typeface="Calibri"/>
              </a:rPr>
              <a:t>A semantic router dispatches work to a Transactional agent (SQL) and an Investigative agent (RAG).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606040"/>
            <a:ext cx="2542032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02152" y="2834640"/>
            <a:ext cx="502920" cy="502920"/>
          </a:xfrm>
          <a:prstGeom prst="ellipse">
            <a:avLst/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3520440"/>
            <a:ext cx="2084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4284B"/>
                </a:solidFill>
                <a:latin typeface="Calibri"/>
              </a:rPr>
              <a:t>Data sovereignty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411480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B5566"/>
                </a:solidFill>
                <a:latin typeface="Calibri"/>
              </a:rPr>
              <a:t>All databases, parsing and the routing model run on air-gapped local servers.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07024" y="2606040"/>
            <a:ext cx="2542032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35624" y="2834640"/>
            <a:ext cx="502920" cy="50292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3520440"/>
            <a:ext cx="2084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4284B"/>
                </a:solidFill>
                <a:latin typeface="Calibri"/>
              </a:rPr>
              <a:t>Human-in-the-loop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4" y="411480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B5566"/>
                </a:solidFill>
                <a:latin typeface="Calibri"/>
              </a:rPr>
              <a:t>No agent has autonomous write access. Every action is validated by a human expert.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0496" y="2606040"/>
            <a:ext cx="2542032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69096" y="2834640"/>
            <a:ext cx="502920" cy="502920"/>
          </a:xfrm>
          <a:prstGeom prst="ellipse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9096" y="3520440"/>
            <a:ext cx="2084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4284B"/>
                </a:solidFill>
                <a:latin typeface="Calibri"/>
              </a:rPr>
              <a:t>Proven in production-like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411480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B5566"/>
                </a:solidFill>
                <a:latin typeface="Calibri"/>
              </a:rPr>
              <a:t>Exercised on a live Docker Compose stack — real DB, real vector store, real APIs.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CFDEF7"/>
                </a:solidFill>
                <a:latin typeface="Calibri"/>
              </a:rPr>
              <a:t>The next slides walk down the delivered architecture: application services, the agents and their models, data, integration and infrastructure.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APPLICATION SERVICES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A modular, containerised microservices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394960" cy="4937760"/>
          </a:xfrm>
          <a:prstGeom prst="roundRect">
            <a:avLst>
              <a:gd name="adj" fmla="val 4500"/>
            </a:avLst>
          </a:prstGeom>
          <a:solidFill>
            <a:srgbClr val="FBF7E7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4519" y="150876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DDEEFC"/>
          </a:solidFill>
          <a:ln w="15875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158191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284B"/>
                </a:solidFill>
                <a:latin typeface="Calibri"/>
              </a:rPr>
              <a:t>actuai_frontend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745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4B5566"/>
                </a:solidFill>
                <a:latin typeface="Calibri"/>
              </a:rPr>
              <a:t>(React)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77540" y="2194560"/>
            <a:ext cx="0" cy="411480"/>
          </a:xfrm>
          <a:prstGeom prst="line">
            <a:avLst/>
          </a:prstGeom>
          <a:ln w="19050">
            <a:solidFill>
              <a:srgbClr val="4B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29000" y="2240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4B5566"/>
                </a:solidFill>
                <a:latin typeface="Calibri"/>
              </a:rPr>
              <a:t>REST (HITL)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60604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CE3C9"/>
          </a:solidFill>
          <a:ln w="15875">
            <a:solidFill>
              <a:srgbClr val="E87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679192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284B"/>
                </a:solidFill>
                <a:latin typeface="Calibri"/>
              </a:rPr>
              <a:t>actuai_backend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7180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4B5566"/>
                </a:solidFill>
                <a:latin typeface="Calibri"/>
              </a:rPr>
              <a:t>(FastAPI / LangGraph / ETL)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828800" y="3383280"/>
            <a:ext cx="548640" cy="457200"/>
          </a:xfrm>
          <a:prstGeom prst="line">
            <a:avLst/>
          </a:prstGeom>
          <a:ln w="19050">
            <a:solidFill>
              <a:srgbClr val="4B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23360" y="3383280"/>
            <a:ext cx="548640" cy="457200"/>
          </a:xfrm>
          <a:prstGeom prst="line">
            <a:avLst/>
          </a:prstGeom>
          <a:ln w="19050">
            <a:solidFill>
              <a:srgbClr val="4B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" y="384048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EBDEF7"/>
          </a:solidFill>
          <a:ln w="15875">
            <a:solidFill>
              <a:srgbClr val="7C5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1363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284B"/>
                </a:solidFill>
                <a:latin typeface="Calibri"/>
              </a:rPr>
              <a:t>actuai_mock_data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0624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4B5566"/>
                </a:solidFill>
                <a:latin typeface="Calibri"/>
              </a:rPr>
              <a:t>Mock SAP ERP / Generators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84048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DCEFE2"/>
          </a:solidFill>
          <a:ln w="15875">
            <a:solidFill>
              <a:srgbClr val="1A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9136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284B"/>
                </a:solidFill>
                <a:latin typeface="Calibri"/>
              </a:rPr>
              <a:t>Local Datalake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2062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4B5566"/>
                </a:solidFill>
                <a:latin typeface="Calibri"/>
              </a:rPr>
              <a:t>PostgreSQL &amp; Qdrant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8348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4B5566"/>
                </a:solidFill>
                <a:latin typeface="Calibri"/>
              </a:rPr>
              <a:t>Figure 1 — Microservices architecture (delivered, containerised via Docker Compose)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1234440"/>
            <a:ext cx="5577840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3441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Calibri"/>
              </a:rPr>
              <a:t>actuai_frontend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64592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React. The presentation layer and Human-in-the-Loop validation dashboard.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2377440"/>
            <a:ext cx="5577840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4871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B1E"/>
                </a:solidFill>
                <a:latin typeface="Calibri"/>
              </a:rPr>
              <a:t>actuai_backend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78892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FastAPI + Python. ETL pipelines, routing logic and the LangGraph orchestration.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3520440"/>
            <a:ext cx="5577840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6301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C5CD4"/>
                </a:solidFill>
                <a:latin typeface="Calibri"/>
              </a:rPr>
              <a:t>actuai_mock_data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93192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FastAPI + SQLModel. Fake SAP ERP (BAPI) and synthetic email/PDF/Excel generators.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4709160"/>
            <a:ext cx="5577840" cy="1463040"/>
          </a:xfrm>
          <a:prstGeom prst="roundRect">
            <a:avLst>
              <a:gd name="adj" fmla="val 8000"/>
            </a:avLst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8646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dependency, confirmed in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1663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FDEF7"/>
                </a:solidFill>
                <a:latin typeface="Calibri"/>
              </a:rPr>
              <a:t>The backend is the sole orchestrator of the datalake. In the integration run, neither frontend nor mock data touched PostgreSQL/Qdrant directly — every read and write passed through the backend's REST/ETL layer as designed.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AI AGENT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Triggered events, orchestrated by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6"/>
                </a:solidFill>
                <a:latin typeface="Calibri"/>
              </a:rPr>
              <a:t>The orchestration cycle starts asynchronously, driven by three operational bottlenecks: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45643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828800"/>
            <a:ext cx="2450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Supply-chain 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30–60 supplier emails per employee per day on delivery status, delays and shipping.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2504" y="1645920"/>
            <a:ext cx="345643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61104" y="1828800"/>
            <a:ext cx="457200" cy="45720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828800"/>
            <a:ext cx="2450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ERP discrepancies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377440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Internal alerts when SAP forecast dates fail to align with the Airbus production schedule.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1645920"/>
            <a:ext cx="345643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90688" y="1828800"/>
            <a:ext cx="457200" cy="457200"/>
          </a:xfrm>
          <a:prstGeom prst="ellipse">
            <a:avLst/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828800"/>
            <a:ext cx="2450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Compliance audits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2377440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B5566"/>
                </a:solidFill>
                <a:latin typeface="Calibri"/>
              </a:rPr>
              <a:t>Manual requests needing the immediate compilation of a component's traceability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46120"/>
            <a:ext cx="6949440" cy="2971800"/>
          </a:xfrm>
          <a:prstGeom prst="roundRect">
            <a:avLst>
              <a:gd name="adj" fmla="val 4500"/>
            </a:avLst>
          </a:prstGeom>
          <a:solidFill>
            <a:srgbClr val="FBF7E7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46120" y="347472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FDE9B8"/>
          </a:solidFill>
          <a:ln>
            <a:solidFill>
              <a:srgbClr val="E87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347472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4284B"/>
                </a:solidFill>
                <a:latin typeface="Calibri"/>
              </a:rPr>
              <a:t>Global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4206240"/>
            <a:ext cx="1737360" cy="502920"/>
          </a:xfrm>
          <a:prstGeom prst="roundRect">
            <a:avLst>
              <a:gd name="adj" fmla="val 10000"/>
            </a:avLst>
          </a:prstGeom>
          <a:solidFill>
            <a:srgbClr val="DDEEFC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420624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4284B"/>
                </a:solidFill>
                <a:latin typeface="Calibri"/>
              </a:rPr>
              <a:t>Supervisor
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98348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FCE3C9"/>
          </a:solidFill>
          <a:ln>
            <a:solidFill>
              <a:srgbClr val="E87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8348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4284B"/>
                </a:solidFill>
                <a:latin typeface="Calibri"/>
              </a:rPr>
              <a:t>Transactional Agent
SQL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983480"/>
            <a:ext cx="2103120" cy="502920"/>
          </a:xfrm>
          <a:prstGeom prst="roundRect">
            <a:avLst>
              <a:gd name="adj" fmla="val 10000"/>
            </a:avLst>
          </a:prstGeom>
          <a:solidFill>
            <a:srgbClr val="EBDEF7"/>
          </a:solidFill>
          <a:ln>
            <a:solidFill>
              <a:srgbClr val="7C5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98348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4284B"/>
                </a:solidFill>
                <a:latin typeface="Calibri"/>
              </a:rPr>
              <a:t>Investigative Agent
RAG 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571500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DCEFE2"/>
          </a:solidFill>
          <a:ln>
            <a:solidFill>
              <a:srgbClr val="1A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57150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4284B"/>
                </a:solidFill>
                <a:latin typeface="Calibri"/>
              </a:rPr>
              <a:t>Human-in-the-Loop Review →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89320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4B5566"/>
                </a:solidFill>
                <a:latin typeface="Calibri"/>
              </a:rPr>
              <a:t>Figure 2 — Trigger → routing → specialist worker → human validation (as delivered)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3246120"/>
            <a:ext cx="4069080" cy="2971800"/>
          </a:xfrm>
          <a:prstGeom prst="roundRect">
            <a:avLst>
              <a:gd name="adj" fmla="val 4500"/>
            </a:avLst>
          </a:prstGeom>
          <a:solidFill>
            <a:srgbClr val="14284B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45643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Shared global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840480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FDEF7"/>
                </a:solidFill>
                <a:latin typeface="Calibri"/>
              </a:rPr>
              <a:t>On each trigger, LangGraph initialises a Global State — a shared memory dictionary holding the raw input and execution context as it moves through the graph.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937760"/>
            <a:ext cx="356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CFDEF7"/>
                </a:solidFill>
                <a:latin typeface="Calibri"/>
              </a:rPr>
              <a:t>Two specialist workers — plus the hybrid traceability path added for Mission 5 — now automate all five NVA-generating missions, with every result paused for human validation.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AI AGENT LAYER · 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One router, two specialist workers — plus a hybrid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45643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2907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84B"/>
                </a:solidFill>
                <a:latin typeface="Calibri"/>
              </a:rPr>
              <a:t>Supervisor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F6FED"/>
                </a:solidFill>
                <a:latin typeface="Calibri"/>
              </a:rPr>
              <a:t>Semantic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2907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B5566"/>
                </a:solidFill>
                <a:latin typeface="Calibri"/>
              </a:rPr>
              <a:t>A single entry point using a fast local LLM call for intent classification. No business logic, no database access — it only routes.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69080"/>
            <a:ext cx="2907792" cy="274320"/>
          </a:xfrm>
          <a:prstGeom prst="roundRect">
            <a:avLst>
              <a:gd name="adj" fmla="val 4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2907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 spc="60">
                <a:solidFill>
                  <a:srgbClr val="2F6FED"/>
                </a:solidFill>
                <a:latin typeface="Calibri"/>
              </a:rPr>
              <a:t>WHY IT 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290779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30" b="0" i="0">
                <a:solidFill>
                  <a:srgbClr val="4B5566"/>
                </a:solidFill>
                <a:latin typeface="Calibri"/>
              </a:rPr>
              <a:t>Called on every routing iteration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30" b="0" i="0">
                <a:solidFill>
                  <a:srgbClr val="4B5566"/>
                </a:solidFill>
                <a:latin typeface="Calibri"/>
              </a:rPr>
              <a:t>Needs near-zero latency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30" b="0" i="0">
                <a:solidFill>
                  <a:srgbClr val="4B5566"/>
                </a:solidFill>
                <a:latin typeface="Calibri"/>
              </a:rPr>
              <a:t>Runs locally, no cloud quota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2504" y="1280160"/>
            <a:ext cx="345643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508760"/>
            <a:ext cx="548640" cy="54864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2240280"/>
            <a:ext cx="2907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84B"/>
                </a:solidFill>
                <a:latin typeface="Calibri"/>
              </a:rPr>
              <a:t>Transactional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260604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B1E"/>
                </a:solidFill>
                <a:latin typeface="Calibri"/>
              </a:rPr>
              <a:t>Structured Data · SQL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971800"/>
            <a:ext cx="2907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B5566"/>
                </a:solidFill>
                <a:latin typeface="Calibri"/>
              </a:rPr>
              <a:t>Python SQL tools query the local PostgreSQL datalake and format structured ERP metadata for high-precision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4069080"/>
            <a:ext cx="2907792" cy="274320"/>
          </a:xfrm>
          <a:prstGeom prst="roundRect">
            <a:avLst>
              <a:gd name="adj" fmla="val 40000"/>
            </a:avLst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4069080"/>
            <a:ext cx="2907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 spc="60">
                <a:solidFill>
                  <a:srgbClr val="E87B1E"/>
                </a:solidFill>
                <a:latin typeface="Calibri"/>
              </a:rPr>
              <a:t>MISSIONS HANDLED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4526280"/>
            <a:ext cx="290779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 i="0">
                <a:solidFill>
                  <a:srgbClr val="E87B1E"/>
                </a:solidFill>
                <a:latin typeface="Calibri"/>
              </a:rPr>
              <a:t>•  </a:t>
            </a:r>
            <a:r>
              <a:rPr sz="1030" b="0" i="0">
                <a:solidFill>
                  <a:srgbClr val="4B5566"/>
                </a:solidFill>
                <a:latin typeface="Calibri"/>
              </a:rPr>
              <a:t>M1 · Extract email statuses, sync SAP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 i="0">
                <a:solidFill>
                  <a:srgbClr val="E87B1E"/>
                </a:solidFill>
                <a:latin typeface="Calibri"/>
              </a:rPr>
              <a:t>•  </a:t>
            </a:r>
            <a:r>
              <a:rPr sz="1030" b="0" i="0">
                <a:solidFill>
                  <a:srgbClr val="4B5566"/>
                </a:solidFill>
                <a:latin typeface="Calibri"/>
              </a:rPr>
              <a:t>M2 · Flag deltas ahead, avert AOG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 i="0">
                <a:solidFill>
                  <a:srgbClr val="E87B1E"/>
                </a:solidFill>
                <a:latin typeface="Calibri"/>
              </a:rPr>
              <a:t>•  </a:t>
            </a:r>
            <a:r>
              <a:rPr sz="1030" b="0" i="0">
                <a:solidFill>
                  <a:srgbClr val="4B5566"/>
                </a:solidFill>
                <a:latin typeface="Calibri"/>
              </a:rPr>
              <a:t>M3 · Pre-fill FNC, draft 8D follow-ups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62088" y="1280160"/>
            <a:ext cx="345643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36408" y="1508760"/>
            <a:ext cx="548640" cy="548640"/>
          </a:xfrm>
          <a:prstGeom prst="ellipse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2240280"/>
            <a:ext cx="2907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84B"/>
                </a:solidFill>
                <a:latin typeface="Calibri"/>
              </a:rPr>
              <a:t>Investigative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60604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C5CD4"/>
                </a:solidFill>
                <a:latin typeface="Calibri"/>
              </a:rPr>
              <a:t>Unstructured Data · RAG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8" y="2971800"/>
            <a:ext cx="2907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B5566"/>
                </a:solidFill>
                <a:latin typeface="Calibri"/>
              </a:rPr>
              <a:t>RAG tools run semantic search across the Qdrant vector database over large volumes of unstructured text and documents.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36408" y="4069080"/>
            <a:ext cx="2907792" cy="274320"/>
          </a:xfrm>
          <a:prstGeom prst="roundRect">
            <a:avLst>
              <a:gd name="adj" fmla="val 40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4069080"/>
            <a:ext cx="2907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 spc="60">
                <a:solidFill>
                  <a:srgbClr val="7C5CD4"/>
                </a:solidFill>
                <a:latin typeface="Calibri"/>
              </a:rPr>
              <a:t>MISSIONS HANDLED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4526280"/>
            <a:ext cx="290779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 i="0">
                <a:solidFill>
                  <a:srgbClr val="7C5CD4"/>
                </a:solidFill>
                <a:latin typeface="Calibri"/>
              </a:rPr>
              <a:t>•  </a:t>
            </a:r>
            <a:r>
              <a:rPr sz="1030" b="0" i="0">
                <a:solidFill>
                  <a:srgbClr val="4B5566"/>
                </a:solidFill>
                <a:latin typeface="Calibri"/>
              </a:rPr>
              <a:t>M4 · Retrieve correct, latest doc versions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 i="0">
                <a:solidFill>
                  <a:srgbClr val="7C5CD4"/>
                </a:solidFill>
                <a:latin typeface="Calibri"/>
              </a:rPr>
              <a:t>•  </a:t>
            </a:r>
            <a:r>
              <a:rPr sz="1030" b="0" i="0">
                <a:solidFill>
                  <a:srgbClr val="4B5566"/>
                </a:solidFill>
                <a:latin typeface="Calibri"/>
              </a:rPr>
              <a:t>M5 · Feed the hybrid traceability dossier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 i="0">
                <a:solidFill>
                  <a:srgbClr val="7C5CD4"/>
                </a:solidFill>
                <a:latin typeface="Calibri"/>
              </a:rPr>
              <a:t>•  </a:t>
            </a:r>
            <a:r>
              <a:rPr sz="1030" b="0" i="0">
                <a:solidFill>
                  <a:srgbClr val="4B5566"/>
                </a:solidFill>
                <a:latin typeface="Calibri"/>
              </a:rPr>
              <a:t>Cross-checks serials against SAP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AI AGENT LAYER ·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No autonomous writes — confirmed in every test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120640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A7A3E"/>
                </a:solidFill>
                <a:latin typeface="Calibri"/>
              </a:rPr>
              <a:t>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36192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84B"/>
                </a:solidFill>
                <a:latin typeface="Calibri"/>
              </a:rPr>
              <a:t>Why a human stays in the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4B5566"/>
                </a:solidFill>
                <a:latin typeface="Calibri"/>
              </a:rPr>
              <a:t>No agent has autonomous write access to the production ERP — every drafted action is treated as a proposal, never an instruction.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4B5566"/>
                </a:solidFill>
                <a:latin typeface="Calibri"/>
              </a:rPr>
              <a:t>Across all five missions tested, zero writes occurred without an explicit approve call on the matching HITL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4572000" cy="2011680"/>
          </a:xfrm>
          <a:prstGeom prst="roundRect">
            <a:avLst>
              <a:gd name="adj" fmla="val 8000"/>
            </a:avLst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9651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Observability,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80560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CFDEF7"/>
                </a:solidFill>
                <a:latin typeface="Calibri"/>
              </a:rPr>
              <a:t>Every tool call, retrieval and LLM generation is traceable. In the delivered system, the append-only audit log additionally hash-chains every auth event, draft and approval — verified intact (audit_chain_intact: true) after the full test run across all five 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280160"/>
            <a:ext cx="5852160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5087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84B"/>
                </a:solidFill>
                <a:latin typeface="Calibri"/>
              </a:rPr>
              <a:t>The validation flow, as delivered</a:t>
            </a:r>
          </a:p>
        </p:txBody>
      </p:sp>
      <p:sp>
        <p:nvSpPr>
          <p:cNvPr id="15" name="Oval 14"/>
          <p:cNvSpPr/>
          <p:nvPr/>
        </p:nvSpPr>
        <p:spPr>
          <a:xfrm>
            <a:off x="6080760" y="2011680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842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284B"/>
                </a:solidFill>
                <a:latin typeface="Calibri"/>
              </a:rPr>
              <a:t>Agent drafts the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4B5566"/>
                </a:solidFill>
                <a:latin typeface="Calibri"/>
              </a:rPr>
              <a:t>A worker writes a structured draft (e.g. an SAP payload or FNC) into the global state.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9360" y="2468880"/>
            <a:ext cx="0" cy="548640"/>
          </a:xfrm>
          <a:prstGeom prst="line">
            <a:avLst/>
          </a:prstGeom>
          <a:ln w="1905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080760" y="3017520"/>
            <a:ext cx="457200" cy="457200"/>
          </a:xfrm>
          <a:prstGeom prst="ellipse">
            <a:avLst/>
          </a:prstGeom>
          <a:solidFill>
            <a:srgbClr val="E8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9900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284B"/>
                </a:solidFill>
                <a:latin typeface="Calibri"/>
              </a:rPr>
              <a:t>Execution is paused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9184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4B5566"/>
                </a:solidFill>
                <a:latin typeface="Calibri"/>
              </a:rPr>
              <a:t>LangGraph explicitly halts; nothing reaches SAP or the archive while it waits.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09360" y="3474720"/>
            <a:ext cx="0" cy="548640"/>
          </a:xfrm>
          <a:prstGeom prst="line">
            <a:avLst/>
          </a:prstGeom>
          <a:ln w="1905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080760" y="4023360"/>
            <a:ext cx="457200" cy="457200"/>
          </a:xfrm>
          <a:prstGeom prst="ellipse">
            <a:avLst/>
          </a:prstGeom>
          <a:solidFill>
            <a:srgbClr val="7C5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99592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284B"/>
                </a:solidFill>
                <a:latin typeface="Calibri"/>
              </a:rPr>
              <a:t>Expert reviews on the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2976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4B5566"/>
                </a:solidFill>
                <a:latin typeface="Calibri"/>
              </a:rPr>
              <a:t>The draft surfaces on the React front-end for inspection, edit or rejection.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09360" y="4480560"/>
            <a:ext cx="0" cy="548640"/>
          </a:xfrm>
          <a:prstGeom prst="line">
            <a:avLst/>
          </a:prstGeom>
          <a:ln w="1905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080760" y="5029200"/>
            <a:ext cx="457200" cy="457200"/>
          </a:xfrm>
          <a:prstGeom prst="ellipse">
            <a:avLst/>
          </a:prstGeom>
          <a:solidFill>
            <a:srgbClr val="1A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0017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284B"/>
                </a:solidFill>
                <a:latin typeface="Calibri"/>
              </a:rPr>
              <a:t>Validated → real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30352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4B5566"/>
                </a:solidFill>
                <a:latin typeface="Calibri"/>
              </a:rPr>
              <a:t>Only on explicit approval does the backend push the real SAP update or archive.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FOUNDATION MODEL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A hybrid LLM strategy — local speed, cloud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6"/>
                </a:solidFill>
                <a:latin typeface="Calibri"/>
              </a:rPr>
              <a:t>To balance reasoning against a tight local edge server (8 GB VRAM), each agent runs a different open-weight model. No vendor lock-in, no black 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456432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84B"/>
                </a:solidFill>
                <a:latin typeface="Calibri"/>
              </a:rPr>
              <a:t>Llama 3.1 · 8B Instruct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08960"/>
            <a:ext cx="2907792" cy="365760"/>
          </a:xfrm>
          <a:prstGeom prst="roundRect">
            <a:avLst>
              <a:gd name="adj" fmla="val 3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29077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F6FED"/>
                </a:solidFill>
                <a:latin typeface="Calibri"/>
              </a:rPr>
              <a:t>ON-PREMISE (Ollama, 4-bit)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84B"/>
                </a:solidFill>
                <a:latin typeface="Calibri"/>
              </a:rPr>
              <a:t>Powers: Supervisor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F6FED"/>
                </a:solidFill>
                <a:latin typeface="Calibri"/>
              </a:rPr>
              <a:t>Why this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290779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Called at every routing iteration — needs near-zero latency and must not burn cloud quota. Its light footprint fits the 8 GB local VRAM budget.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32504" y="1691640"/>
            <a:ext cx="3456432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6824" y="1920240"/>
            <a:ext cx="502920" cy="50292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2542032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84B"/>
                </a:solidFill>
                <a:latin typeface="Calibri"/>
              </a:rPr>
              <a:t>Mistral-Nemo · 12B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3108960"/>
            <a:ext cx="2907792" cy="365760"/>
          </a:xfrm>
          <a:prstGeom prst="roundRect">
            <a:avLst>
              <a:gd name="adj" fmla="val 30000"/>
            </a:avLst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4" y="3108960"/>
            <a:ext cx="29077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E87B1E"/>
                </a:solidFill>
                <a:latin typeface="Calibri"/>
              </a:rPr>
              <a:t>CLOUD (NVIDIA NIM / Azure)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365760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84B"/>
                </a:solidFill>
                <a:latin typeface="Calibri"/>
              </a:rPr>
              <a:t>Powers: Transactional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402336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7B1E"/>
                </a:solidFill>
                <a:latin typeface="Calibri"/>
              </a:rPr>
              <a:t>Why this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4" y="4343400"/>
            <a:ext cx="290779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Chosen for its strict tool-calling compliance — reliably generates the well-formed SQL/JSON payloads the integration tests exercised.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2088" y="1691640"/>
            <a:ext cx="3456432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36408" y="1920240"/>
            <a:ext cx="502920" cy="502920"/>
          </a:xfrm>
          <a:prstGeom prst="ellipse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36408" y="2542032"/>
            <a:ext cx="2907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84B"/>
                </a:solidFill>
                <a:latin typeface="Calibri"/>
              </a:rPr>
              <a:t>Llama 3.1 70B / Mistral Large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36408" y="3108960"/>
            <a:ext cx="2907792" cy="365760"/>
          </a:xfrm>
          <a:prstGeom prst="roundRect">
            <a:avLst>
              <a:gd name="adj" fmla="val 30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8" y="3108960"/>
            <a:ext cx="29077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7C5CD4"/>
                </a:solidFill>
                <a:latin typeface="Calibri"/>
              </a:rPr>
              <a:t>CLOUD (NVIDIA NIM / Azure)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365760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284B"/>
                </a:solidFill>
                <a:latin typeface="Calibri"/>
              </a:rPr>
              <a:t>Powers: Investigative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402336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5CD4"/>
                </a:solidFill>
                <a:latin typeface="Calibri"/>
              </a:rPr>
              <a:t>Why this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343400"/>
            <a:ext cx="290779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A 128k-token context window ingests large RAG chunks — many supplier PDFs and email archives at once — without hallucinating.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FOUNDATION MODEL LAYER ·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What the hybrid design buys — and its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120640" cy="4892040"/>
          </a:xfrm>
          <a:prstGeom prst="roundRect">
            <a:avLst>
              <a:gd name="adj" fmla="val 4500"/>
            </a:avLst>
          </a:prstGeom>
          <a:solidFill>
            <a:srgbClr val="E3F5E9"/>
          </a:solidFill>
          <a:ln w="9525">
            <a:solidFill>
              <a:srgbClr val="E3F5E9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7A3E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36192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5A2C"/>
                </a:solidFill>
                <a:latin typeface="Calibri"/>
              </a:rPr>
              <a:t>Main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150" b="1" i="0">
                <a:solidFill>
                  <a:srgbClr val="1A7A3E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4284B"/>
                </a:solidFill>
                <a:latin typeface="Calibri"/>
              </a:rPr>
              <a:t>Specialised division of labour — </a:t>
            </a:r>
            <a:r>
              <a:rPr sz="1150" b="0" i="0">
                <a:solidFill>
                  <a:srgbClr val="1F4A2E"/>
                </a:solidFill>
                <a:latin typeface="Calibri"/>
              </a:rPr>
              <a:t>fast, deterministic routing locally; heavy synthesis and extraction in the cloud, confirmed live during testing.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150" b="1" i="0">
                <a:solidFill>
                  <a:srgbClr val="1A7A3E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4284B"/>
                </a:solidFill>
                <a:latin typeface="Calibri"/>
              </a:rPr>
              <a:t>Open-weight throughout — </a:t>
            </a:r>
            <a:r>
              <a:rPr sz="1150" b="0" i="0">
                <a:solidFill>
                  <a:srgbClr val="1F4A2E"/>
                </a:solidFill>
                <a:latin typeface="Calibri"/>
              </a:rPr>
              <a:t>every selected model is open-weight: no vendor lock-in, no proprietary black box.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150" b="1" i="0">
                <a:solidFill>
                  <a:srgbClr val="1A7A3E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4284B"/>
                </a:solidFill>
                <a:latin typeface="Calibri"/>
              </a:rPr>
              <a:t>Latency where it matters — </a:t>
            </a:r>
            <a:r>
              <a:rPr sz="1150" b="0" i="0">
                <a:solidFill>
                  <a:srgbClr val="1F4A2E"/>
                </a:solidFill>
                <a:latin typeface="Calibri"/>
              </a:rPr>
              <a:t>the router never pays network cost, keeping classification instant on local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280160"/>
            <a:ext cx="5852160" cy="4892040"/>
          </a:xfrm>
          <a:prstGeom prst="roundRect">
            <a:avLst>
              <a:gd name="adj" fmla="val 4500"/>
            </a:avLst>
          </a:prstGeom>
          <a:solidFill>
            <a:srgbClr val="FDEEDC"/>
          </a:solidFill>
          <a:ln w="9525">
            <a:solidFill>
              <a:srgbClr val="FDEED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0" y="15087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08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87B1E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536192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8A490E"/>
                </a:solidFill>
                <a:latin typeface="Calibri"/>
              </a:rPr>
              <a:t>Limitations to manage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94560"/>
            <a:ext cx="5303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150" b="1" i="0">
                <a:solidFill>
                  <a:srgbClr val="E87B1E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4284B"/>
                </a:solidFill>
                <a:latin typeface="Calibri"/>
              </a:rPr>
              <a:t>Local hardware bottleneck — </a:t>
            </a:r>
            <a:r>
              <a:rPr sz="1150" b="0" i="0">
                <a:solidFill>
                  <a:srgbClr val="6B3D12"/>
                </a:solidFill>
                <a:latin typeface="Calibri"/>
              </a:rPr>
              <a:t>the local Llama 3.1 8B is 4-bit quantized, slightly degrading reasoning vs. uncompressed.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150" b="1" i="0">
                <a:solidFill>
                  <a:srgbClr val="E87B1E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4284B"/>
                </a:solidFill>
                <a:latin typeface="Calibri"/>
              </a:rPr>
              <a:t>Cloud dependency — </a:t>
            </a:r>
            <a:r>
              <a:rPr sz="1150" b="0" i="0">
                <a:solidFill>
                  <a:srgbClr val="6B3D12"/>
                </a:solidFill>
                <a:latin typeface="Calibri"/>
              </a:rPr>
              <a:t>an NVIDIA NIM/Azure outage temporarily paralyses the Transactional and Investigative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526280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6634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7B1E"/>
                </a:solidFill>
                <a:latin typeface="Calibri"/>
              </a:rPr>
              <a:t>Mitigation, observed in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98348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The human-in-the-loop checkpoint and audit logging kept every test run observable and recoverable — no silent failures were seen end-to-end.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Unifying structured &amp; unstructured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45643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490472"/>
            <a:ext cx="2450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Structured — 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999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SAP ERP holds forecast dates, part references, supplier names, PO numbers and serial numbers. Agents read this live to replace manual entry and flag discrepancies.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2504" y="1280160"/>
            <a:ext cx="345643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61104" y="1490472"/>
            <a:ext cx="457200" cy="45720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5464" y="1490472"/>
            <a:ext cx="2450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Unstructured — the daily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2057400"/>
            <a:ext cx="2999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30–60 emails/day on delivery status, archives of past non-conformities, regulatory PDFs, and legacy signed paper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2088" y="1280160"/>
            <a:ext cx="3456432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90688" y="1490472"/>
            <a:ext cx="457200" cy="457200"/>
          </a:xfrm>
          <a:prstGeom prst="ellipse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490472"/>
            <a:ext cx="2450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Local datalake — dual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2057400"/>
            <a:ext cx="2999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4B5566"/>
                </a:solidFill>
                <a:latin typeface="Calibri"/>
              </a:rPr>
              <a:t>PostgreSQL + SQLModel store operational logs and SAP metadata; Qdrant stores embeddings for RAG. Both confirmed populated and queried during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83280"/>
            <a:ext cx="10607040" cy="2788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1737360" cy="384048"/>
          </a:xfrm>
          <a:prstGeom prst="roundRect">
            <a:avLst>
              <a:gd name="adj" fmla="val 2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6616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B5566"/>
                </a:solidFill>
                <a:latin typeface="Calibri"/>
              </a:rPr>
              <a:t>Physical 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23360"/>
            <a:ext cx="1737360" cy="384048"/>
          </a:xfrm>
          <a:prstGeom prst="roundRect">
            <a:avLst>
              <a:gd name="adj" fmla="val 2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2336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B5566"/>
                </a:solidFill>
                <a:latin typeface="Calibri"/>
              </a:rPr>
              <a:t>Network Drives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80560"/>
            <a:ext cx="1737360" cy="384048"/>
          </a:xfrm>
          <a:prstGeom prst="roundRect">
            <a:avLst>
              <a:gd name="adj" fmla="val 2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8056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B5566"/>
                </a:solidFill>
                <a:latin typeface="Calibri"/>
              </a:rPr>
              <a:t>MS Exchange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937760"/>
            <a:ext cx="1737360" cy="384048"/>
          </a:xfrm>
          <a:prstGeom prst="roundRect">
            <a:avLst>
              <a:gd name="adj" fmla="val 2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3776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B5566"/>
                </a:solidFill>
                <a:latin typeface="Calibri"/>
              </a:rPr>
              <a:t>Excel 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394960"/>
            <a:ext cx="1737360" cy="384048"/>
          </a:xfrm>
          <a:prstGeom prst="roundRect">
            <a:avLst>
              <a:gd name="adj" fmla="val 2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9496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B5566"/>
                </a:solidFill>
                <a:latin typeface="Calibri"/>
              </a:rPr>
              <a:t>SAP ERP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3520440"/>
            <a:ext cx="2377440" cy="2423160"/>
          </a:xfrm>
          <a:prstGeom prst="roundRect">
            <a:avLst>
              <a:gd name="adj" fmla="val 6000"/>
            </a:avLst>
          </a:prstGeom>
          <a:solidFill>
            <a:srgbClr val="FBF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6118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87B1E"/>
                </a:solidFill>
                <a:latin typeface="Calibri"/>
              </a:rPr>
              <a:t>ETL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931920"/>
            <a:ext cx="2103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69" b="0" i="0">
                <a:solidFill>
                  <a:srgbClr val="4B5566"/>
                </a:solidFill>
                <a:latin typeface="Calibri"/>
              </a:rPr>
              <a:t>Connectors &amp; extractors
(SAP API, IMAP, OCR)
Cleaning &amp; validation
(strict typing)
Embedding model
(semantic vectorization)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657600"/>
            <a:ext cx="1965960" cy="868680"/>
          </a:xfrm>
          <a:prstGeom prst="roundRect">
            <a:avLst>
              <a:gd name="adj" fmla="val 10000"/>
            </a:avLst>
          </a:prstGeom>
          <a:solidFill>
            <a:srgbClr val="DC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3657600"/>
            <a:ext cx="1965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145A2C"/>
                </a:solidFill>
                <a:latin typeface="Calibri"/>
              </a:rPr>
              <a:t>PostgreSQL
Structured Metadata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709160"/>
            <a:ext cx="1965960" cy="868680"/>
          </a:xfrm>
          <a:prstGeom prst="roundRect">
            <a:avLst>
              <a:gd name="adj" fmla="val 10000"/>
            </a:avLst>
          </a:prstGeom>
          <a:solidFill>
            <a:srgbClr val="EBD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709160"/>
            <a:ext cx="1965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4A328A"/>
                </a:solidFill>
                <a:latin typeface="Calibri"/>
              </a:rPr>
              <a:t>Qdrant
Vectors &amp; Documents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3657600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FC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657600"/>
            <a:ext cx="2286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8A490E"/>
                </a:solidFill>
                <a:latin typeface="Calibri"/>
              </a:rPr>
              <a:t>Transactional Agent
Exact SQL Queries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4709160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DD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709160"/>
            <a:ext cx="2286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1A3D7A"/>
                </a:solidFill>
                <a:latin typeface="Calibri"/>
              </a:rPr>
              <a:t>Investigative Agent
RAG / Semantic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943600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4B5566"/>
                </a:solidFill>
                <a:latin typeface="Calibri"/>
              </a:rPr>
              <a:t>Figure 3 — Dispersed sources → ETL → on-premise datalake → agents (delivered pipeline)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INTEGRATION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How the pieces talk — confirmed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45643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907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84B"/>
                </a:solidFill>
                <a:latin typeface="Calibri"/>
              </a:rPr>
              <a:t>Internal APIs &amp; connectors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1760"/>
            <a:ext cx="2907792" cy="141732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F6FED"/>
                </a:solidFill>
                <a:latin typeface="Calibri"/>
              </a:rPr>
              <a:t>Frontend ↔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2542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0" i="0">
                <a:solidFill>
                  <a:srgbClr val="4B5566"/>
                </a:solidFill>
                <a:latin typeface="Calibri"/>
              </a:rPr>
              <a:t>the React dashboard talks to the orchestration logic over secure REST APIs, verified live through the dev-server proxy.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51960"/>
            <a:ext cx="2907792" cy="141732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61688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F6FED"/>
                </a:solidFill>
                <a:latin typeface="Calibri"/>
              </a:rPr>
              <a:t>Database connectors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2542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0" i="0">
                <a:solidFill>
                  <a:srgbClr val="4B5566"/>
                </a:solidFill>
                <a:latin typeface="Calibri"/>
              </a:rPr>
              <a:t>SQLAlchemy/SQLModel reads/writes PostgreSQL; the Qdrant client indexes and retrieves vectors.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32504" y="1280160"/>
            <a:ext cx="345643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6824" y="1508760"/>
            <a:ext cx="502920" cy="50292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2148840"/>
            <a:ext cx="2907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84B"/>
                </a:solidFill>
                <a:latin typeface="Calibri"/>
              </a:rPr>
              <a:t>External 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2651760"/>
            <a:ext cx="2907792" cy="1417320"/>
          </a:xfrm>
          <a:prstGeom prst="roundRect">
            <a:avLst>
              <a:gd name="adj" fmla="val 8000"/>
            </a:avLst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2761488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B1E"/>
                </a:solidFill>
                <a:latin typeface="Calibri"/>
              </a:rPr>
              <a:t>SAP BAPI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063240"/>
            <a:ext cx="2542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0" i="0">
                <a:solidFill>
                  <a:srgbClr val="4B5566"/>
                </a:solidFill>
                <a:latin typeface="Calibri"/>
              </a:rPr>
              <a:t>the ETL pulls metadata via HTTP GET; validated updates push back with HTTP PUT/POST — confirmed against the mock SAP.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4251960"/>
            <a:ext cx="2907792" cy="1417320"/>
          </a:xfrm>
          <a:prstGeom prst="roundRect">
            <a:avLst>
              <a:gd name="adj" fmla="val 8000"/>
            </a:avLst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4361688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B1E"/>
                </a:solidFill>
                <a:latin typeface="Calibri"/>
              </a:rPr>
              <a:t>MS Exchange webhooks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4663440"/>
            <a:ext cx="2542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0" i="0">
                <a:solidFill>
                  <a:srgbClr val="4B5566"/>
                </a:solidFill>
                <a:latin typeface="Calibri"/>
              </a:rPr>
              <a:t>supplier emails fire HTTP POST to the ingestion router, launching the LangGraph cycle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62088" y="1280160"/>
            <a:ext cx="345643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36408" y="1508760"/>
            <a:ext cx="502920" cy="502920"/>
          </a:xfrm>
          <a:prstGeom prst="ellipse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2148840"/>
            <a:ext cx="2907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84B"/>
                </a:solidFill>
                <a:latin typeface="Calibri"/>
              </a:rPr>
              <a:t>Cloud AI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36408" y="2651760"/>
            <a:ext cx="2907792" cy="1417320"/>
          </a:xfrm>
          <a:prstGeom prst="roundRect">
            <a:avLst>
              <a:gd name="adj" fmla="val 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2761488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C5CD4"/>
                </a:solidFill>
                <a:latin typeface="Calibri"/>
              </a:rPr>
              <a:t>Secure enterprise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3063240"/>
            <a:ext cx="2542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0" i="0">
                <a:solidFill>
                  <a:srgbClr val="4B5566"/>
                </a:solidFill>
                <a:latin typeface="Calibri"/>
              </a:rPr>
              <a:t>heavy models are reached on NVIDIA NIM / Azure through stateless, API-key-protected calls.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6408" y="4251960"/>
            <a:ext cx="2907792" cy="1417320"/>
          </a:xfrm>
          <a:prstGeom prst="roundRect">
            <a:avLst>
              <a:gd name="adj" fmla="val 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9288" y="4361688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C5CD4"/>
                </a:solidFill>
                <a:latin typeface="Calibri"/>
              </a:rPr>
              <a:t>Zero-data-retention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4663440"/>
            <a:ext cx="2542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0" i="0">
                <a:solidFill>
                  <a:srgbClr val="4B5566"/>
                </a:solidFill>
                <a:latin typeface="Calibri"/>
              </a:rPr>
              <a:t>strict no-retention policies keep sensitive aerospace data out of training pipelines.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SECURITY, GOVERNANCE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Sovereignty by design, ops-ready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212080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84B"/>
                </a:solidFill>
                <a:latin typeface="Calibri"/>
              </a:rPr>
              <a:t>Security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663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8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80" b="1" i="0">
                <a:solidFill>
                  <a:srgbClr val="14284B"/>
                </a:solidFill>
                <a:latin typeface="Calibri"/>
              </a:rPr>
              <a:t>Authentication — </a:t>
            </a:r>
            <a:r>
              <a:rPr sz="1080" b="0" i="0">
                <a:solidFill>
                  <a:srgbClr val="4B5566"/>
                </a:solidFill>
                <a:latin typeface="Calibri"/>
              </a:rPr>
              <a:t>JWT-based identity with role + clearance claims; demo roles (engineer, buyer, operator_admin, auditor) seeded and exercised.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8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80" b="1" i="0">
                <a:solidFill>
                  <a:srgbClr val="14284B"/>
                </a:solidFill>
                <a:latin typeface="Calibri"/>
              </a:rPr>
              <a:t>Authorization (RBAC+ABAC) — </a:t>
            </a:r>
            <a:r>
              <a:rPr sz="1080" b="0" i="0">
                <a:solidFill>
                  <a:srgbClr val="4B5566"/>
                </a:solidFill>
                <a:latin typeface="Calibri"/>
              </a:rPr>
              <a:t>only engineer/buyer/operator_admin roles can approve a write to SAP — confirmed by testing role-restricted endpoints.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8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80" b="1" i="0">
                <a:solidFill>
                  <a:srgbClr val="14284B"/>
                </a:solidFill>
                <a:latin typeface="Calibri"/>
              </a:rPr>
              <a:t>Immutable audit log — </a:t>
            </a:r>
            <a:r>
              <a:rPr sz="1080" b="0" i="0">
                <a:solidFill>
                  <a:srgbClr val="4B5566"/>
                </a:solidFill>
                <a:latin typeface="Calibri"/>
              </a:rPr>
              <a:t>every draft, approval and rejection is hash-chained; integrity verified via the audit-verify endpoint after the full test run.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8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80" b="1" i="0">
                <a:solidFill>
                  <a:srgbClr val="14284B"/>
                </a:solidFill>
                <a:latin typeface="Calibri"/>
              </a:rPr>
              <a:t>Compliance posture — </a:t>
            </a:r>
            <a:r>
              <a:rPr sz="1080" b="0" i="0">
                <a:solidFill>
                  <a:srgbClr val="4B5566"/>
                </a:solidFill>
                <a:latin typeface="Calibri"/>
              </a:rPr>
              <a:t>EN9100/AS9100-aligned traceability, human-always-signs stance for sensitive write-backs, in line with ITAR/EASA principles from the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280160"/>
            <a:ext cx="5806440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4904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84B"/>
                </a:solidFill>
                <a:latin typeface="Calibri"/>
              </a:rPr>
              <a:t>Infrastructure, as deployed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52120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8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80" b="1" i="0">
                <a:solidFill>
                  <a:srgbClr val="14284B"/>
                </a:solidFill>
                <a:latin typeface="Calibri"/>
              </a:rPr>
              <a:t>Hybrid design — </a:t>
            </a:r>
            <a:r>
              <a:rPr sz="1080" b="0" i="0">
                <a:solidFill>
                  <a:srgbClr val="4B5566"/>
                </a:solidFill>
                <a:latin typeface="Calibri"/>
              </a:rPr>
              <a:t>on-premise edge zone (DB, business logic, router model) reaching a managed cloud zone for heavy models only.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8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80" b="1" i="0">
                <a:solidFill>
                  <a:srgbClr val="14284B"/>
                </a:solidFill>
                <a:latin typeface="Calibri"/>
              </a:rPr>
              <a:t>Containerised compute — </a:t>
            </a:r>
            <a:r>
              <a:rPr sz="1080" b="0" i="0">
                <a:solidFill>
                  <a:srgbClr val="4B5566"/>
                </a:solidFill>
                <a:latin typeface="Calibri"/>
              </a:rPr>
              <a:t>Docker Compose orchestrates frontend, backend, mock-data, PostgreSQL and Qdrant — all started, healthy and verified together.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8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80" b="1" i="0">
                <a:solidFill>
                  <a:srgbClr val="14284B"/>
                </a:solidFill>
                <a:latin typeface="Calibri"/>
              </a:rPr>
              <a:t>Isolated networking — </a:t>
            </a:r>
            <a:r>
              <a:rPr sz="1080" b="0" i="0">
                <a:solidFill>
                  <a:srgbClr val="4B5566"/>
                </a:solidFill>
                <a:latin typeface="Calibri"/>
              </a:rPr>
              <a:t>PostgreSQL/Qdrant expose no host ports; only the backend container reaches them.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80" b="1" i="0">
                <a:solidFill>
                  <a:srgbClr val="2F6FED"/>
                </a:solidFill>
                <a:latin typeface="Calibri"/>
              </a:rPr>
              <a:t>•  </a:t>
            </a:r>
            <a:r>
              <a:rPr sz="1080" b="1" i="0">
                <a:solidFill>
                  <a:srgbClr val="14284B"/>
                </a:solidFill>
                <a:latin typeface="Calibri"/>
              </a:rPr>
              <a:t>Resilience — </a:t>
            </a:r>
            <a:r>
              <a:rPr sz="1080" b="0" i="0">
                <a:solidFill>
                  <a:srgbClr val="4B5566"/>
                </a:solidFill>
                <a:latin typeface="Calibri"/>
              </a:rPr>
              <a:t>Docker restart-unless-stopped policies; cron-job dumps for PostgreSQL and Qdrant snapshots.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2F6FED"/>
                </a:solidFill>
                <a:latin typeface="Calibri"/>
              </a:rPr>
              <a:t>PROOF OF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4284B"/>
                </a:solidFill>
                <a:latin typeface="Georgia"/>
              </a:rPr>
              <a:t>Validated end-to-end on a live Docker Compose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B5566"/>
                </a:solidFill>
                <a:latin typeface="Calibri"/>
              </a:rPr>
              <a:t>Beyond the 11-test automated backend suite, every mission was exercised against the real stack — actual HTTP calls, real PostgreSQL/Qdrant, the simulated SAP ERP.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0241280" cy="777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47672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7A3E"/>
                </a:solidFill>
                <a:latin typeface="Calibri"/>
              </a:rPr>
              <a:t>UC1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74519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Supply Chain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874519"/>
            <a:ext cx="6400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Delay email → SAP_UPDATE draft → approved → SAP delivery date confirmed updated.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947672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7A3E"/>
                </a:solidFill>
                <a:latin typeface="Calibri"/>
              </a:rP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0241280" cy="777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816352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16352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7A3E"/>
                </a:solidFill>
                <a:latin typeface="Calibri"/>
              </a:rPr>
              <a:t>UC2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74320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AOG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743200"/>
            <a:ext cx="6400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Parallel AOG_ALERT task created automatically → approved → escalation email confirmed in outbox.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51760"/>
            <a:ext cx="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816352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7A3E"/>
                </a:solidFill>
                <a:latin typeface="Calibri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20439"/>
            <a:ext cx="10241280" cy="777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685031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1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7A3E"/>
                </a:solidFill>
                <a:latin typeface="Calibri"/>
              </a:rPr>
              <a:t>UC3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611879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Quality / FNC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611879"/>
            <a:ext cx="6400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"Créer FNC..." → pre-filled draft → approved → Quality Notification confirmed created in SAP.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20439"/>
            <a:ext cx="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685031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7A3E"/>
                </a:solidFill>
                <a:latin typeface="Calibri"/>
              </a:rP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389120"/>
            <a:ext cx="10241280" cy="777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553712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553712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7A3E"/>
                </a:solidFill>
                <a:latin typeface="Calibri"/>
              </a:rPr>
              <a:t>UC4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480559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Documentation 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480559"/>
            <a:ext cx="6400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PDFs generated &amp; indexed in Qdrant → real query → grounded answer + real source retrieved.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389120"/>
            <a:ext cx="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553712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7A3E"/>
                </a:solidFill>
                <a:latin typeface="Calibri"/>
              </a:rPr>
              <a:t>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257800"/>
            <a:ext cx="10241280" cy="777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5422392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422392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A7A3E"/>
                </a:solidFill>
                <a:latin typeface="Calibri"/>
              </a:rPr>
              <a:t>UC5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34924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4B"/>
                </a:solidFill>
                <a:latin typeface="Calibri"/>
              </a:rPr>
              <a:t>Hybrid 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5349240"/>
            <a:ext cx="6400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Serial-number audit request → hybrid SQL+RAG dossier compiled → approved → archived.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57800"/>
            <a:ext cx="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5422392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A7A3E"/>
                </a:solidFill>
                <a:latin typeface="Calibri"/>
              </a:rPr>
              <a:t>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172200"/>
            <a:ext cx="10241280" cy="502920"/>
          </a:xfrm>
          <a:prstGeom prst="roundRect">
            <a:avLst>
              <a:gd name="adj" fmla="val 10000"/>
            </a:avLst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17220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Calibri"/>
              </a:rPr>
              <a:t>A real bug was found and fixed during this pass (SAP-mock date typing) and the audit-log hash chain was confirmed intact afterward.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65105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9AA3B2"/>
                </a:solidFill>
                <a:latin typeface="Calibri"/>
              </a:rPr>
              <a:t>Actu'AI · ECE Paris — Final Delivery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F6FED"/>
            </a:gs>
            <a:gs pos="100000">
              <a:srgbClr val="0B1B3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CFDEF7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From hours of admin to instant, governed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4ECFB"/>
                </a:solidFill>
                <a:latin typeface="Calibri"/>
              </a:rPr>
              <a:t>Actu'AI has turned the actuation service's structured/unstructured gap into an automated, auditable pipeline — delivered, integration-tested, and ready for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254203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2084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84B"/>
                </a:solidFill>
                <a:latin typeface="Calibri"/>
              </a:rPr>
              <a:t>NVA eliminated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3192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Reading, retyping, chasing and searching are replaced by automatic drafts across all five 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514600"/>
            <a:ext cx="254203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02152" y="2743200"/>
            <a:ext cx="502920" cy="502920"/>
          </a:xfrm>
          <a:prstGeom prst="ellipse">
            <a:avLst/>
          </a:prstGeom>
          <a:solidFill>
            <a:srgbClr val="FD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3383280"/>
            <a:ext cx="2084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84B"/>
                </a:solidFill>
                <a:latin typeface="Calibri"/>
              </a:rPr>
              <a:t>Proactive, not reactive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93192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Deliveries are cross-checked continuously, flagging delays ahead of time and preventing AOG crises.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07024" y="2514600"/>
            <a:ext cx="254203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35624" y="2743200"/>
            <a:ext cx="502920" cy="502920"/>
          </a:xfrm>
          <a:prstGeom prst="ellipse">
            <a:avLst/>
          </a:prstGeom>
          <a:solidFill>
            <a:srgbClr val="E3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3383280"/>
            <a:ext cx="2084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84B"/>
                </a:solidFill>
                <a:latin typeface="Calibri"/>
              </a:rPr>
              <a:t>Sovereign &amp; compliant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4" y="393192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Air-gapped data, zero-retention cloud calls, and an intact hash-chained audit log, by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0496" y="2514600"/>
            <a:ext cx="254203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69096" y="2743200"/>
            <a:ext cx="502920" cy="502920"/>
          </a:xfrm>
          <a:prstGeom prst="ellipse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9096" y="3383280"/>
            <a:ext cx="2084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84B"/>
                </a:solidFill>
                <a:latin typeface="Calibri"/>
              </a:rPr>
              <a:t>Human in 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3931920"/>
            <a:ext cx="20848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B5566"/>
                </a:solidFill>
                <a:latin typeface="Calibri"/>
              </a:rPr>
              <a:t>Open-weight models and a mandatory validation step kept experts in control of every write, every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69280"/>
            <a:ext cx="10908792" cy="777240"/>
          </a:xfrm>
          <a:prstGeom prst="roundRect">
            <a:avLst>
              <a:gd name="adj" fmla="val 8000"/>
            </a:avLst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FDEF7"/>
                </a:solidFill>
                <a:latin typeface="Calibri"/>
              </a:rPr>
              <a:t>Actu'AI · ECE Paris 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Jarfino HOUNGBADJI · SOW Achta Demba · Fatoumata IBRAHIM BELKO   </a:t>
            </a:r>
            <a:r>
              <a:rPr sz="1100" b="1" i="0">
                <a:solidFill>
                  <a:srgbClr val="CFDEF7"/>
                </a:solidFill>
                <a:latin typeface="Calibri"/>
              </a:rPr>
              <a:t>github.com/jaja07/ActuAI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